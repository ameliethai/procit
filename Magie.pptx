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Pacifico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CF40B5-2F52-4A4F-B12C-FE59135790A9}">
  <a:tblStyle styleId="{39CF40B5-2F52-4A4F-B12C-FE59135790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acific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267dc3324c66c16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267dc3324c66c16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267dc3324c66c16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267dc3324c66c16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267dc3324c66c16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267dc3324c66c16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267dc3324c66c1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267dc3324c66c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267dc3324c66c16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267dc3324c66c16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267dc3324c66c16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267dc3324c66c16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67dc3324c66c16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67dc3324c66c16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67dc3324c66c16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267dc3324c66c1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267dc3324c66c16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267dc3324c66c16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267dc3324c66c16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267dc3324c66c16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267dc3324c66c16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267dc3324c66c16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267dc3324c66c16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267dc3324c66c16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67dc3324c66c16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267dc3324c66c16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267dc3324c66c16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267dc3324c66c16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267dc3324c66c16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267dc3324c66c16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67dc3324c66c16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267dc3324c66c16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267dc3324c66c16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267dc3324c66c16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267dc3324c66c16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267dc3324c66c16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267dc3324c66c16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267dc3324c66c16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267dc3324c66c16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267dc3324c66c16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267dc3324c66c16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267dc3324c66c16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267dc3324c66c16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267dc3324c66c16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267dc3324c66c16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267dc3324c66c16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267dc3324c66c16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267dc3324c66c16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slide" Target="/ppt/slides/slide5.xml"/><Relationship Id="rId10" Type="http://schemas.openxmlformats.org/officeDocument/2006/relationships/slide" Target="/ppt/slides/slide10.xml"/><Relationship Id="rId9" Type="http://schemas.openxmlformats.org/officeDocument/2006/relationships/slide" Target="/ppt/slides/slide4.xml"/><Relationship Id="rId5" Type="http://schemas.openxmlformats.org/officeDocument/2006/relationships/slide" Target="/ppt/slides/slide6.xml"/><Relationship Id="rId6" Type="http://schemas.openxmlformats.org/officeDocument/2006/relationships/slide" Target="/ppt/slides/slide7.xml"/><Relationship Id="rId7" Type="http://schemas.openxmlformats.org/officeDocument/2006/relationships/slide" Target="/ppt/slides/slide9.xml"/><Relationship Id="rId8" Type="http://schemas.openxmlformats.org/officeDocument/2006/relationships/slide" Target="/ppt/slides/slide8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slide" Target="/ppt/slides/slide3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slide" Target="/ppt/slides/slide3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slide" Target="/ppt/slides/slide3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Relationship Id="rId4" Type="http://schemas.openxmlformats.org/officeDocument/2006/relationships/slide" Target="/ppt/slides/slide3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slide" Target="/ppt/slides/slide3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slide" Target="/ppt/slides/slide3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953600" y="314600"/>
            <a:ext cx="4059300" cy="10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un petit tour de magie </a:t>
            </a:r>
            <a:r>
              <a:rPr lang="fr">
                <a:solidFill>
                  <a:srgbClr val="999999"/>
                </a:solidFill>
                <a:latin typeface="Comic Sans MS"/>
                <a:ea typeface="Comic Sans MS"/>
                <a:cs typeface="Comic Sans MS"/>
                <a:sym typeface="Comic Sans MS"/>
              </a:rPr>
              <a:t>ou de </a:t>
            </a:r>
            <a:r>
              <a:rPr lang="fr">
                <a:solidFill>
                  <a:srgbClr val="999999"/>
                </a:solidFill>
                <a:latin typeface="Comic Sans MS"/>
                <a:ea typeface="Comic Sans MS"/>
                <a:cs typeface="Comic Sans MS"/>
                <a:sym typeface="Comic Sans MS"/>
              </a:rPr>
              <a:t>sorcellerie...</a:t>
            </a:r>
            <a:endParaRPr>
              <a:solidFill>
                <a:srgbClr val="9999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928025" y="2500975"/>
            <a:ext cx="1966200" cy="1950600"/>
          </a:xfrm>
          <a:prstGeom prst="verticalScrol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latin typeface="Pacifico"/>
                <a:ea typeface="Pacifico"/>
                <a:cs typeface="Pacifico"/>
                <a:sym typeface="Pacifico"/>
              </a:rPr>
              <a:t>tous vos cerveaux n’ont pas de secret pour moi !</a:t>
            </a:r>
            <a:endParaRPr sz="17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>
            <a:hlinkClick action="ppaction://hlinksldjump" r:id="rId4"/>
          </p:cNvPr>
          <p:cNvSpPr/>
          <p:nvPr/>
        </p:nvSpPr>
        <p:spPr>
          <a:xfrm>
            <a:off x="1101050" y="597725"/>
            <a:ext cx="1195500" cy="1164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>
            <a:hlinkClick action="ppaction://hlinksldjump" r:id="rId5"/>
          </p:cNvPr>
          <p:cNvSpPr/>
          <p:nvPr/>
        </p:nvSpPr>
        <p:spPr>
          <a:xfrm>
            <a:off x="3109200" y="849375"/>
            <a:ext cx="1462800" cy="1164000"/>
          </a:xfrm>
          <a:prstGeom prst="triangle">
            <a:avLst>
              <a:gd fmla="val 50000" name="adj"/>
            </a:avLst>
          </a:prstGeom>
          <a:solidFill>
            <a:srgbClr val="6AA84F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>
            <a:hlinkClick action="ppaction://hlinksldjump" r:id="rId6"/>
          </p:cNvPr>
          <p:cNvSpPr/>
          <p:nvPr/>
        </p:nvSpPr>
        <p:spPr>
          <a:xfrm>
            <a:off x="1777425" y="2674000"/>
            <a:ext cx="1305600" cy="12585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F1C232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>
            <a:hlinkClick action="ppaction://hlinksldjump" r:id="rId7"/>
          </p:cNvPr>
          <p:cNvSpPr/>
          <p:nvPr/>
        </p:nvSpPr>
        <p:spPr>
          <a:xfrm>
            <a:off x="6417575" y="849375"/>
            <a:ext cx="1525800" cy="150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>
            <a:hlinkClick action="ppaction://hlinksldjump" r:id="rId8"/>
          </p:cNvPr>
          <p:cNvSpPr/>
          <p:nvPr/>
        </p:nvSpPr>
        <p:spPr>
          <a:xfrm>
            <a:off x="5851325" y="3051500"/>
            <a:ext cx="1651500" cy="14313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>
            <a:hlinkClick action="ppaction://hlinksldjump" r:id="rId9"/>
          </p:cNvPr>
          <p:cNvSpPr/>
          <p:nvPr/>
        </p:nvSpPr>
        <p:spPr>
          <a:xfrm>
            <a:off x="3963800" y="2972850"/>
            <a:ext cx="1305600" cy="1258500"/>
          </a:xfrm>
          <a:prstGeom prst="heptagon">
            <a:avLst>
              <a:gd fmla="val 102572" name="hf"/>
              <a:gd fmla="val 105210" name="vf"/>
            </a:avLst>
          </a:prstGeom>
          <a:solidFill>
            <a:srgbClr val="E69138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>
            <a:hlinkClick action="ppaction://hlinksldjump" r:id="rId10"/>
          </p:cNvPr>
          <p:cNvSpPr/>
          <p:nvPr/>
        </p:nvSpPr>
        <p:spPr>
          <a:xfrm>
            <a:off x="8385300" y="4671275"/>
            <a:ext cx="638100" cy="34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" name="Google Shape;75;p16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{39CF40B5-2F52-4A4F-B12C-FE59135790A9}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16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17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18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19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20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21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22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23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24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25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26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27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28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29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30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31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48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49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50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51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52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53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54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55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56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57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58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59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60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61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62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CE5CD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63</a:t>
                      </a:r>
                      <a:endParaRPr sz="4000">
                        <a:solidFill>
                          <a:srgbClr val="FCE5CD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6" name="Google Shape;76;p16">
            <a:hlinkClick action="ppaction://hlinksldjump" r:id="rId4"/>
          </p:cNvPr>
          <p:cNvSpPr/>
          <p:nvPr/>
        </p:nvSpPr>
        <p:spPr>
          <a:xfrm>
            <a:off x="8780975" y="4760600"/>
            <a:ext cx="363000" cy="3831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Google Shape;81;p17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{39CF40B5-2F52-4A4F-B12C-FE59135790A9}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13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15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17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19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21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23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25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27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29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31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33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35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37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39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41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43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45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47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49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51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53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55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57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59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61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F4CCC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63</a:t>
                      </a:r>
                      <a:endParaRPr sz="4000">
                        <a:solidFill>
                          <a:srgbClr val="F4CCC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2" name="Google Shape;82;p17">
            <a:hlinkClick action="ppaction://hlinksldjump" r:id="rId4"/>
          </p:cNvPr>
          <p:cNvSpPr/>
          <p:nvPr/>
        </p:nvSpPr>
        <p:spPr>
          <a:xfrm>
            <a:off x="8780975" y="4760600"/>
            <a:ext cx="363000" cy="3831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Google Shape;87;p18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{39CF40B5-2F52-4A4F-B12C-FE59135790A9}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13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14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15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20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21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22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23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28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29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30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31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36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37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38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39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44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45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46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47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52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53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54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55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60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61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62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9EAD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63</a:t>
                      </a:r>
                      <a:endParaRPr sz="4000">
                        <a:solidFill>
                          <a:srgbClr val="D9EAD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8" name="Google Shape;88;p18">
            <a:hlinkClick action="ppaction://hlinksldjump" r:id="rId4"/>
          </p:cNvPr>
          <p:cNvSpPr/>
          <p:nvPr/>
        </p:nvSpPr>
        <p:spPr>
          <a:xfrm>
            <a:off x="8780975" y="4760600"/>
            <a:ext cx="363000" cy="3831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" name="Google Shape;93;p19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{39CF40B5-2F52-4A4F-B12C-FE59135790A9}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32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33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34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35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36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37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38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39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40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41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42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43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44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45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46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47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48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49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50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51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52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53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54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55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56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57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58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59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60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61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62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7F6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63</a:t>
                      </a:r>
                      <a:endParaRPr sz="4000">
                        <a:solidFill>
                          <a:srgbClr val="7F6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94" name="Google Shape;94;p19">
            <a:hlinkClick action="ppaction://hlinksldjump" r:id="rId4"/>
          </p:cNvPr>
          <p:cNvSpPr/>
          <p:nvPr/>
        </p:nvSpPr>
        <p:spPr>
          <a:xfrm>
            <a:off x="8780975" y="4760600"/>
            <a:ext cx="363000" cy="3831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20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{39CF40B5-2F52-4A4F-B12C-FE59135790A9}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14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15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18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19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22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23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26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27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30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31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34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35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38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39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42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43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46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47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50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51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54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55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58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59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62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D0E0E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63</a:t>
                      </a:r>
                      <a:endParaRPr sz="4000">
                        <a:solidFill>
                          <a:srgbClr val="D0E0E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00" name="Google Shape;100;p20">
            <a:hlinkClick action="ppaction://hlinksldjump" r:id="rId4"/>
          </p:cNvPr>
          <p:cNvSpPr/>
          <p:nvPr/>
        </p:nvSpPr>
        <p:spPr>
          <a:xfrm>
            <a:off x="8780975" y="4760600"/>
            <a:ext cx="363000" cy="3831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Google Shape;105;p21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{39CF40B5-2F52-4A4F-B12C-FE59135790A9}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13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14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15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24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25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26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27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28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29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30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31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40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41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42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43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44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45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46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47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  <a:tr h="128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56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67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58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59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60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61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62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4000">
                          <a:solidFill>
                            <a:srgbClr val="434343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63</a:t>
                      </a:r>
                      <a:endParaRPr sz="4000">
                        <a:solidFill>
                          <a:srgbClr val="434343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06" name="Google Shape;106;p21">
            <a:hlinkClick action="ppaction://hlinksldjump" r:id="rId4"/>
          </p:cNvPr>
          <p:cNvSpPr/>
          <p:nvPr/>
        </p:nvSpPr>
        <p:spPr>
          <a:xfrm>
            <a:off x="8780975" y="4760600"/>
            <a:ext cx="363000" cy="3831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/>
        </p:nvSpPr>
        <p:spPr>
          <a:xfrm>
            <a:off x="446700" y="3650225"/>
            <a:ext cx="73311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7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Explication</a:t>
            </a:r>
            <a:endParaRPr b="1" sz="39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/>
        </p:nvSpPr>
        <p:spPr>
          <a:xfrm>
            <a:off x="202500" y="670925"/>
            <a:ext cx="8739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Base 10</a:t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A4C2F4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/>
        </p:nvSpPr>
        <p:spPr>
          <a:xfrm>
            <a:off x="202500" y="670925"/>
            <a:ext cx="8739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Base 10</a:t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	Exemple: </a:t>
            </a:r>
            <a:r>
              <a:rPr lang="fr" sz="2200">
                <a:solidFill>
                  <a:srgbClr val="B6D7A8"/>
                </a:solidFill>
                <a:latin typeface="Pacifico"/>
                <a:ea typeface="Pacifico"/>
                <a:cs typeface="Pacifico"/>
                <a:sym typeface="Pacifico"/>
              </a:rPr>
              <a:t>403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= </a:t>
            </a:r>
            <a:r>
              <a:rPr lang="fr" sz="2200">
                <a:solidFill>
                  <a:srgbClr val="B6D7A8"/>
                </a:solidFill>
                <a:latin typeface="Pacifico"/>
                <a:ea typeface="Pacifico"/>
                <a:cs typeface="Pacifico"/>
                <a:sym typeface="Pacifico"/>
              </a:rPr>
              <a:t>4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× 10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2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+ </a:t>
            </a:r>
            <a:r>
              <a:rPr lang="fr" sz="2200">
                <a:solidFill>
                  <a:srgbClr val="B6D7A8"/>
                </a:solidFill>
                <a:latin typeface="Pacifico"/>
                <a:ea typeface="Pacifico"/>
                <a:cs typeface="Pacifico"/>
                <a:sym typeface="Pacifico"/>
              </a:rPr>
              <a:t>0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× 10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1</a:t>
            </a:r>
            <a:r>
              <a:rPr baseline="30000" lang="fr" sz="2200">
                <a:solidFill>
                  <a:srgbClr val="F4CCCC"/>
                </a:solidFill>
                <a:latin typeface="Pacifico"/>
                <a:ea typeface="Pacifico"/>
                <a:cs typeface="Pacifico"/>
                <a:sym typeface="Pacifico"/>
              </a:rPr>
              <a:t>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+ </a:t>
            </a:r>
            <a:r>
              <a:rPr lang="fr" sz="2200">
                <a:solidFill>
                  <a:srgbClr val="B6D7A8"/>
                </a:solidFill>
                <a:latin typeface="Pacifico"/>
                <a:ea typeface="Pacifico"/>
                <a:cs typeface="Pacifico"/>
                <a:sym typeface="Pacifico"/>
              </a:rPr>
              <a:t>3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× 10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0</a:t>
            </a:r>
            <a:endParaRPr sz="2200">
              <a:solidFill>
                <a:srgbClr val="EA9999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A4C2F4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/>
        </p:nvSpPr>
        <p:spPr>
          <a:xfrm>
            <a:off x="202500" y="670925"/>
            <a:ext cx="8739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Base 10</a:t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	Exemple: </a:t>
            </a:r>
            <a:r>
              <a:rPr lang="fr" sz="2200">
                <a:solidFill>
                  <a:srgbClr val="B6D7A8"/>
                </a:solidFill>
                <a:latin typeface="Pacifico"/>
                <a:ea typeface="Pacifico"/>
                <a:cs typeface="Pacifico"/>
                <a:sym typeface="Pacifico"/>
              </a:rPr>
              <a:t>403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= </a:t>
            </a:r>
            <a:r>
              <a:rPr lang="fr" sz="2200">
                <a:solidFill>
                  <a:srgbClr val="B6D7A8"/>
                </a:solidFill>
                <a:latin typeface="Pacifico"/>
                <a:ea typeface="Pacifico"/>
                <a:cs typeface="Pacifico"/>
                <a:sym typeface="Pacifico"/>
              </a:rPr>
              <a:t>4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× 10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2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+ </a:t>
            </a:r>
            <a:r>
              <a:rPr lang="fr" sz="2200">
                <a:solidFill>
                  <a:srgbClr val="B6D7A8"/>
                </a:solidFill>
                <a:latin typeface="Pacifico"/>
                <a:ea typeface="Pacifico"/>
                <a:cs typeface="Pacifico"/>
                <a:sym typeface="Pacifico"/>
              </a:rPr>
              <a:t>0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× 10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1</a:t>
            </a:r>
            <a:r>
              <a:rPr baseline="30000" lang="fr" sz="2200">
                <a:solidFill>
                  <a:srgbClr val="F4CCCC"/>
                </a:solidFill>
                <a:latin typeface="Pacifico"/>
                <a:ea typeface="Pacifico"/>
                <a:cs typeface="Pacifico"/>
                <a:sym typeface="Pacifico"/>
              </a:rPr>
              <a:t>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+ </a:t>
            </a:r>
            <a:r>
              <a:rPr lang="fr" sz="2200">
                <a:solidFill>
                  <a:srgbClr val="B6D7A8"/>
                </a:solidFill>
                <a:latin typeface="Pacifico"/>
                <a:ea typeface="Pacifico"/>
                <a:cs typeface="Pacifico"/>
                <a:sym typeface="Pacifico"/>
              </a:rPr>
              <a:t>3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× 10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0</a:t>
            </a:r>
            <a:endParaRPr sz="2200">
              <a:solidFill>
                <a:srgbClr val="EA9999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Base 2</a:t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A4C2F4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/>
        </p:nvSpPr>
        <p:spPr>
          <a:xfrm>
            <a:off x="202500" y="670925"/>
            <a:ext cx="87390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Base 10</a:t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	Exemple: </a:t>
            </a:r>
            <a:r>
              <a:rPr lang="fr" sz="2200">
                <a:solidFill>
                  <a:srgbClr val="B6D7A8"/>
                </a:solidFill>
                <a:latin typeface="Pacifico"/>
                <a:ea typeface="Pacifico"/>
                <a:cs typeface="Pacifico"/>
                <a:sym typeface="Pacifico"/>
              </a:rPr>
              <a:t>403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= </a:t>
            </a:r>
            <a:r>
              <a:rPr lang="fr" sz="2200">
                <a:solidFill>
                  <a:srgbClr val="B6D7A8"/>
                </a:solidFill>
                <a:latin typeface="Pacifico"/>
                <a:ea typeface="Pacifico"/>
                <a:cs typeface="Pacifico"/>
                <a:sym typeface="Pacifico"/>
              </a:rPr>
              <a:t>4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× 10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2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+ </a:t>
            </a:r>
            <a:r>
              <a:rPr lang="fr" sz="2200">
                <a:solidFill>
                  <a:srgbClr val="B6D7A8"/>
                </a:solidFill>
                <a:latin typeface="Pacifico"/>
                <a:ea typeface="Pacifico"/>
                <a:cs typeface="Pacifico"/>
                <a:sym typeface="Pacifico"/>
              </a:rPr>
              <a:t>0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× 10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1</a:t>
            </a:r>
            <a:r>
              <a:rPr baseline="30000" lang="fr" sz="2200">
                <a:solidFill>
                  <a:srgbClr val="F4CCCC"/>
                </a:solidFill>
                <a:latin typeface="Pacifico"/>
                <a:ea typeface="Pacifico"/>
                <a:cs typeface="Pacifico"/>
                <a:sym typeface="Pacifico"/>
              </a:rPr>
              <a:t>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+ </a:t>
            </a:r>
            <a:r>
              <a:rPr lang="fr" sz="2200">
                <a:solidFill>
                  <a:srgbClr val="B6D7A8"/>
                </a:solidFill>
                <a:latin typeface="Pacifico"/>
                <a:ea typeface="Pacifico"/>
                <a:cs typeface="Pacifico"/>
                <a:sym typeface="Pacifico"/>
              </a:rPr>
              <a:t>3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× 10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0</a:t>
            </a:r>
            <a:endParaRPr sz="2200">
              <a:solidFill>
                <a:srgbClr val="EA9999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Base 2</a:t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	Exemple: 403 =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 1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× 2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8</a:t>
            </a:r>
            <a:r>
              <a:rPr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+ 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1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× 2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7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+ 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0</a:t>
            </a:r>
            <a:r>
              <a:rPr lang="fr" sz="2200">
                <a:solidFill>
                  <a:srgbClr val="B6D7A8"/>
                </a:solidFill>
                <a:latin typeface="Pacifico"/>
                <a:ea typeface="Pacifico"/>
                <a:cs typeface="Pacifico"/>
                <a:sym typeface="Pacifico"/>
              </a:rPr>
              <a:t>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× 2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6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+ 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0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× 2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5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+ 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1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× 2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4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+ 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0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× 2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3</a:t>
            </a:r>
            <a:r>
              <a:rPr baseline="30000"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+ 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0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× 2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2</a:t>
            </a:r>
            <a:r>
              <a:rPr baseline="30000"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+ 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1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× 2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1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+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 1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× 2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0</a:t>
            </a:r>
            <a:endParaRPr sz="2200">
              <a:solidFill>
                <a:srgbClr val="EA9999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A4C2F4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/>
        </p:nvSpPr>
        <p:spPr>
          <a:xfrm>
            <a:off x="202500" y="670925"/>
            <a:ext cx="87390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Base 10</a:t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	Exemple: </a:t>
            </a:r>
            <a:r>
              <a:rPr lang="fr" sz="2200">
                <a:solidFill>
                  <a:srgbClr val="B6D7A8"/>
                </a:solidFill>
                <a:latin typeface="Pacifico"/>
                <a:ea typeface="Pacifico"/>
                <a:cs typeface="Pacifico"/>
                <a:sym typeface="Pacifico"/>
              </a:rPr>
              <a:t>403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= </a:t>
            </a:r>
            <a:r>
              <a:rPr lang="fr" sz="2200">
                <a:solidFill>
                  <a:srgbClr val="B6D7A8"/>
                </a:solidFill>
                <a:latin typeface="Pacifico"/>
                <a:ea typeface="Pacifico"/>
                <a:cs typeface="Pacifico"/>
                <a:sym typeface="Pacifico"/>
              </a:rPr>
              <a:t>4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× 10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2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+ </a:t>
            </a:r>
            <a:r>
              <a:rPr lang="fr" sz="2200">
                <a:solidFill>
                  <a:srgbClr val="B6D7A8"/>
                </a:solidFill>
                <a:latin typeface="Pacifico"/>
                <a:ea typeface="Pacifico"/>
                <a:cs typeface="Pacifico"/>
                <a:sym typeface="Pacifico"/>
              </a:rPr>
              <a:t>0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× 10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1</a:t>
            </a:r>
            <a:r>
              <a:rPr baseline="30000" lang="fr" sz="2200">
                <a:solidFill>
                  <a:srgbClr val="F4CCCC"/>
                </a:solidFill>
                <a:latin typeface="Pacifico"/>
                <a:ea typeface="Pacifico"/>
                <a:cs typeface="Pacifico"/>
                <a:sym typeface="Pacifico"/>
              </a:rPr>
              <a:t>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+ </a:t>
            </a:r>
            <a:r>
              <a:rPr lang="fr" sz="2200">
                <a:solidFill>
                  <a:srgbClr val="B6D7A8"/>
                </a:solidFill>
                <a:latin typeface="Pacifico"/>
                <a:ea typeface="Pacifico"/>
                <a:cs typeface="Pacifico"/>
                <a:sym typeface="Pacifico"/>
              </a:rPr>
              <a:t>3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× 10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0</a:t>
            </a:r>
            <a:endParaRPr sz="2200">
              <a:solidFill>
                <a:srgbClr val="EA9999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Base 2</a:t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	Exemple: 403 =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 1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× 2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8</a:t>
            </a:r>
            <a:r>
              <a:rPr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+ 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1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× 2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7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+ 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0</a:t>
            </a:r>
            <a:r>
              <a:rPr lang="fr" sz="2200">
                <a:solidFill>
                  <a:srgbClr val="B6D7A8"/>
                </a:solidFill>
                <a:latin typeface="Pacifico"/>
                <a:ea typeface="Pacifico"/>
                <a:cs typeface="Pacifico"/>
                <a:sym typeface="Pacifico"/>
              </a:rPr>
              <a:t>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× 2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6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+ 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0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× 2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5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+ 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1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× 2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4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+ 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0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× 2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3</a:t>
            </a:r>
            <a:r>
              <a:rPr baseline="30000"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+ 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0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× 2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2</a:t>
            </a:r>
            <a:r>
              <a:rPr baseline="30000"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+ 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1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× 2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1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+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 1 </a:t>
            </a: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× 2</a:t>
            </a:r>
            <a:r>
              <a:rPr baseline="30000" lang="fr" sz="2200">
                <a:solidFill>
                  <a:srgbClr val="EA9999"/>
                </a:solidFill>
                <a:latin typeface="Pacifico"/>
                <a:ea typeface="Pacifico"/>
                <a:cs typeface="Pacifico"/>
                <a:sym typeface="Pacifico"/>
              </a:rPr>
              <a:t>0</a:t>
            </a:r>
            <a:endParaRPr sz="2200">
              <a:solidFill>
                <a:srgbClr val="EA9999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Pacifico"/>
                <a:ea typeface="Pacifico"/>
                <a:cs typeface="Pacifico"/>
                <a:sym typeface="Pacifico"/>
              </a:rPr>
              <a:t>	Donc son écriture en base 2 est </a:t>
            </a:r>
            <a:r>
              <a:rPr lang="fr" sz="2200">
                <a:solidFill>
                  <a:srgbClr val="A4C2F4"/>
                </a:solidFill>
                <a:latin typeface="Pacifico"/>
                <a:ea typeface="Pacifico"/>
                <a:cs typeface="Pacifico"/>
                <a:sym typeface="Pacifico"/>
              </a:rPr>
              <a:t>110010011</a:t>
            </a:r>
            <a:endParaRPr sz="2200">
              <a:solidFill>
                <a:srgbClr val="A4C2F4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" name="Google Shape;141;p28"/>
          <p:cNvGraphicFramePr/>
          <p:nvPr/>
        </p:nvGraphicFramePr>
        <p:xfrm>
          <a:off x="-10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{39CF40B5-2F52-4A4F-B12C-FE59135790A9}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N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Binaire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 =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32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 = 16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8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4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 </a:t>
                      </a:r>
                      <a:r>
                        <a:rPr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2</a:t>
                      </a:r>
                      <a:endParaRPr sz="19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0 </a:t>
                      </a:r>
                      <a:r>
                        <a:rPr lang="fr" sz="20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1</a:t>
                      </a:r>
                      <a:endParaRPr sz="20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6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7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" name="Google Shape;146;p29"/>
          <p:cNvGraphicFramePr/>
          <p:nvPr/>
        </p:nvGraphicFramePr>
        <p:xfrm>
          <a:off x="-10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{39CF40B5-2F52-4A4F-B12C-FE59135790A9}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N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Binaire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 = 32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 = 16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8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4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 </a:t>
                      </a:r>
                      <a:r>
                        <a:rPr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2</a:t>
                      </a:r>
                      <a:endParaRPr sz="19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0 </a:t>
                      </a:r>
                      <a:r>
                        <a:rPr lang="fr" sz="20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1</a:t>
                      </a:r>
                      <a:endParaRPr sz="20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8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1000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9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1001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1010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1011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12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1100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13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1101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14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1110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" name="Google Shape;151;p30"/>
          <p:cNvGraphicFramePr/>
          <p:nvPr/>
        </p:nvGraphicFramePr>
        <p:xfrm>
          <a:off x="-10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{39CF40B5-2F52-4A4F-B12C-FE59135790A9}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N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Binaire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 = 32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 = 16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8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4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 </a:t>
                      </a:r>
                      <a:r>
                        <a:rPr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2</a:t>
                      </a:r>
                      <a:endParaRPr sz="19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0 </a:t>
                      </a:r>
                      <a:r>
                        <a:rPr lang="fr" sz="20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1</a:t>
                      </a:r>
                      <a:endParaRPr sz="20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15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1111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16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10000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17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10001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18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10010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19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10011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10100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10101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Google Shape;156;p31"/>
          <p:cNvGraphicFramePr/>
          <p:nvPr/>
        </p:nvGraphicFramePr>
        <p:xfrm>
          <a:off x="-10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{39CF40B5-2F52-4A4F-B12C-FE59135790A9}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N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Binaire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 = 32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 = 16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8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4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 </a:t>
                      </a:r>
                      <a:r>
                        <a:rPr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2</a:t>
                      </a:r>
                      <a:endParaRPr sz="19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0 </a:t>
                      </a:r>
                      <a:r>
                        <a:rPr lang="fr" sz="20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1</a:t>
                      </a:r>
                      <a:endParaRPr sz="20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22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10110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23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10111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24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11000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25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11001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26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11010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27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11011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28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11100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" name="Google Shape;161;p32"/>
          <p:cNvGraphicFramePr/>
          <p:nvPr/>
        </p:nvGraphicFramePr>
        <p:xfrm>
          <a:off x="-10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{39CF40B5-2F52-4A4F-B12C-FE59135790A9}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N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Binaire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 = 32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 = 16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8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4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 </a:t>
                      </a:r>
                      <a:r>
                        <a:rPr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2</a:t>
                      </a:r>
                      <a:endParaRPr sz="19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0 </a:t>
                      </a:r>
                      <a:r>
                        <a:rPr lang="fr" sz="20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1</a:t>
                      </a:r>
                      <a:endParaRPr sz="20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29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11101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11110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11111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32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10000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33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10001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34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10010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35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10011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" name="Google Shape;166;p33"/>
          <p:cNvGraphicFramePr/>
          <p:nvPr/>
        </p:nvGraphicFramePr>
        <p:xfrm>
          <a:off x="-10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{39CF40B5-2F52-4A4F-B12C-FE59135790A9}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N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Binaire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 = 32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 = 16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8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4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 </a:t>
                      </a:r>
                      <a:r>
                        <a:rPr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2</a:t>
                      </a:r>
                      <a:endParaRPr sz="19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0 </a:t>
                      </a:r>
                      <a:r>
                        <a:rPr lang="fr" sz="20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1</a:t>
                      </a:r>
                      <a:endParaRPr sz="20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36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100100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37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100101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38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100110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39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100111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101000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101001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42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101010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Google Shape;171;p34"/>
          <p:cNvGraphicFramePr/>
          <p:nvPr/>
        </p:nvGraphicFramePr>
        <p:xfrm>
          <a:off x="-10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{39CF40B5-2F52-4A4F-B12C-FE59135790A9}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N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Binaire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 = 32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 = 16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8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4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 </a:t>
                      </a:r>
                      <a:r>
                        <a:rPr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2</a:t>
                      </a:r>
                      <a:endParaRPr sz="19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0 </a:t>
                      </a:r>
                      <a:r>
                        <a:rPr lang="fr" sz="20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1</a:t>
                      </a:r>
                      <a:endParaRPr sz="20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43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101011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44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101100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45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101101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46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101110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47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101111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48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110000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49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110001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" name="Google Shape;176;p35"/>
          <p:cNvGraphicFramePr/>
          <p:nvPr/>
        </p:nvGraphicFramePr>
        <p:xfrm>
          <a:off x="-10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{39CF40B5-2F52-4A4F-B12C-FE59135790A9}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N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Binaire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 = 32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 = 16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8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4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 </a:t>
                      </a:r>
                      <a:r>
                        <a:rPr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2</a:t>
                      </a:r>
                      <a:endParaRPr sz="19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0 </a:t>
                      </a:r>
                      <a:r>
                        <a:rPr lang="fr" sz="20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1</a:t>
                      </a:r>
                      <a:endParaRPr sz="20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110010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110011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52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110100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53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110101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54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110110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55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110111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56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111000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" name="Google Shape;181;p36"/>
          <p:cNvGraphicFramePr/>
          <p:nvPr/>
        </p:nvGraphicFramePr>
        <p:xfrm>
          <a:off x="-10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{39CF40B5-2F52-4A4F-B12C-FE59135790A9}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N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Binaire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 = 32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4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 = 16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3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8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 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4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 </a:t>
                      </a:r>
                      <a:r>
                        <a:rPr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2</a:t>
                      </a:r>
                      <a:endParaRPr sz="19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r>
                        <a:rPr baseline="30000" lang="fr" sz="19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0 </a:t>
                      </a:r>
                      <a:r>
                        <a:rPr lang="fr" sz="20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= 1</a:t>
                      </a:r>
                      <a:endParaRPr sz="20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57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111001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58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111010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59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111011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60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111100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6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111101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6</a:t>
                      </a: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2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111110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63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111111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800">
                          <a:latin typeface="Pacifico"/>
                          <a:ea typeface="Pacifico"/>
                          <a:cs typeface="Pacifico"/>
                          <a:sym typeface="Pacifico"/>
                        </a:rPr>
                        <a:t>X</a:t>
                      </a:r>
                      <a:endParaRPr sz="1800">
                        <a:latin typeface="Pacifico"/>
                        <a:ea typeface="Pacifico"/>
                        <a:cs typeface="Pacifico"/>
                        <a:sym typeface="Pacific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